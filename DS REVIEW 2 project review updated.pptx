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  <p:sldMasterId id="2147483754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9" d="100"/>
          <a:sy n="79" d="100"/>
        </p:scale>
        <p:origin x="85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CBC23-336D-4EE9-844E-13C7B743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8FC0D-F578-4F68-897A-AEA71523A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E7677-9CA0-4BEC-917F-F205B5C9B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C3F77-D09A-45A3-980C-016F9C3ED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68AB1-A89F-4724-829D-CF37FBE26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831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3A2BF-0DB4-4589-BDC9-DEDE9AC17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95FF6-745A-4014-9219-E911F78E8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EE2C8-7ED2-43BE-B451-D884CBF63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2BB22-E478-4A11-94ED-F191038AE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F3EB9-3F06-43CD-8BF4-E8081185B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84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48958-AB7F-443D-9857-D0BC2A7FA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DD28C-5CB1-42DD-99FA-44AC26A84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8F52B-311A-46EC-B941-7B6CA911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754F8-449E-40BB-ABA6-8438F0E4B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45791-2513-4DCA-AAE5-12897CDC6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59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A908-21F2-4979-9826-89F94462F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428ED-0A4A-4B91-9A50-0A79AAAFE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4BA798-09B8-45AF-A739-1770ACC87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F1B06-B629-46EF-9747-727DE1AE5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F85E6-34B8-4207-BFCF-218EBD061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81F08-D436-44AE-8BF9-6C091603F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022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71250-714B-4B8C-B761-0CB3EEB2B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49148-287D-40DC-B144-D7966190E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697AC-B05B-4765-AB73-F08484155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8EEF1-3E94-4FB5-B361-7F6CEF747D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1AF2EC-F721-4D1B-8E63-A96AA1C615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F7D2B0-1C26-4CF9-9040-AE158D572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DB7E30-154E-4F5C-B0B4-9819AFC88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0773BF-42D7-48C6-A3D0-F35995FEC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18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ECED-1503-4057-AF29-15074F466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DE4CD6-A978-432B-9E42-6368FCA4E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317826-B73B-4198-ADE3-0B44C4235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3083AE-E403-4933-926A-A4E2F3745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278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34DBE6-F389-44EA-BE6F-0E1C8FB40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E505E3-C794-44C4-806E-A3DFD31ED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77FF8-14DC-479C-BC43-AC3784D54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360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8DF30-BB1A-4ECE-8B31-37B7B8A8D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54C2D-E3F9-46A2-8DFD-E3419317F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9853E-E17E-4FC4-88FC-4699BF43E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05943-4384-489A-9CB7-ACB1AD1EC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9AB7FE-16CD-44EF-B627-680B39B81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B8241-93BD-4A7E-9AA4-A55D534D4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878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7CF10-8AE1-4605-92BB-47A6F33D4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4083BD-2957-4038-B2B1-C7ABF0D587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CC5141-8C36-4B3C-A444-EE0C15FE3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CD63F-9376-47D3-B6C9-8256CFDEB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152676-8BE3-401B-AA13-D87C2769F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3C4D1-B0FA-447A-8AC3-7BB060536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23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59C02-2C79-4F7A-9E01-1F60C1722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E0F19A-11B0-45C0-9E9E-83CE424CD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69CE4-77C0-4CC1-9181-6750035F1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D19E1-2086-4DBC-95D8-E4D7ED523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8C96C-2A1C-4266-91B7-5422B272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261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55BAB7-FA3D-480A-B513-040BEA2DEB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6CF4C-E31C-46E2-94B1-28EA9C07C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A8875-504C-4A6A-8B42-0BF569C48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BEFA2-068E-4BD1-A133-C4DDE3C79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647BB-C934-4305-89A9-65AF8F794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523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CBC23-336D-4EE9-844E-13C7B743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8FC0D-F578-4F68-897A-AEA71523A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E7677-9CA0-4BEC-917F-F205B5C9B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C3F77-D09A-45A3-980C-016F9C3ED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68AB1-A89F-4724-829D-CF37FBE26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297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3A2BF-0DB4-4589-BDC9-DEDE9AC17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95FF6-745A-4014-9219-E911F78E8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EE2C8-7ED2-43BE-B451-D884CBF63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2BB22-E478-4A11-94ED-F191038AE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F3EB9-3F06-43CD-8BF4-E8081185B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157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48958-AB7F-443D-9857-D0BC2A7FA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DD28C-5CB1-42DD-99FA-44AC26A84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8F52B-311A-46EC-B941-7B6CA911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754F8-449E-40BB-ABA6-8438F0E4B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45791-2513-4DCA-AAE5-12897CDC6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0054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A908-21F2-4979-9826-89F94462F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428ED-0A4A-4B91-9A50-0A79AAAFE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4BA798-09B8-45AF-A739-1770ACC87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F1B06-B629-46EF-9747-727DE1AE5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F85E6-34B8-4207-BFCF-218EBD061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81F08-D436-44AE-8BF9-6C091603F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3429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71250-714B-4B8C-B761-0CB3EEB2B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49148-287D-40DC-B144-D7966190E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697AC-B05B-4765-AB73-F08484155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8EEF1-3E94-4FB5-B361-7F6CEF747D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1AF2EC-F721-4D1B-8E63-A96AA1C615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F7D2B0-1C26-4CF9-9040-AE158D572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DB7E30-154E-4F5C-B0B4-9819AFC88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0773BF-42D7-48C6-A3D0-F35995FEC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216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ECED-1503-4057-AF29-15074F466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DE4CD6-A978-432B-9E42-6368FCA4E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317826-B73B-4198-ADE3-0B44C4235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3083AE-E403-4933-926A-A4E2F3745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3112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34DBE6-F389-44EA-BE6F-0E1C8FB40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E505E3-C794-44C4-806E-A3DFD31ED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77FF8-14DC-479C-BC43-AC3784D54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0687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8DF30-BB1A-4ECE-8B31-37B7B8A8D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54C2D-E3F9-46A2-8DFD-E3419317F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9853E-E17E-4FC4-88FC-4699BF43E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05943-4384-489A-9CB7-ACB1AD1EC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9AB7FE-16CD-44EF-B627-680B39B81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B8241-93BD-4A7E-9AA4-A55D534D4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8258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7CF10-8AE1-4605-92BB-47A6F33D4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4083BD-2957-4038-B2B1-C7ABF0D587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CC5141-8C36-4B3C-A444-EE0C15FE3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CD63F-9376-47D3-B6C9-8256CFDEB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152676-8BE3-401B-AA13-D87C2769F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3C4D1-B0FA-447A-8AC3-7BB060536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7671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59C02-2C79-4F7A-9E01-1F60C1722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E0F19A-11B0-45C0-9E9E-83CE424CD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69CE4-77C0-4CC1-9181-6750035F1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D19E1-2086-4DBC-95D8-E4D7ED523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8C96C-2A1C-4266-91B7-5422B272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8387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55BAB7-FA3D-480A-B513-040BEA2DEB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6CF4C-E31C-46E2-94B1-28EA9C07C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A8875-504C-4A6A-8B42-0BF569C48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BEFA2-068E-4BD1-A133-C4DDE3C79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647BB-C934-4305-89A9-65AF8F794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708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36ADAD-5FBC-403E-9A96-9645090D3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FDFE3-EA46-4D3E-8CF6-DFC0BE883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DA485-A7B5-4E53-A8F7-51403EA408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B69CF-1241-4952-8F0E-1196ABB51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C2B22-4B27-4A1D-AFA9-B81A785F3E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782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36ADAD-5FBC-403E-9A96-9645090D3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FDFE3-EA46-4D3E-8CF6-DFC0BE883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DA485-A7B5-4E53-A8F7-51403EA408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B69CF-1241-4952-8F0E-1196ABB51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C2B22-4B27-4A1D-AFA9-B81A785F3E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036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sv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.png"/><Relationship Id="rId4" Type="http://schemas.openxmlformats.org/officeDocument/2006/relationships/hyperlink" Target="https://svgsilh.com/03a9f4/image/98809.html" TargetMode="Externa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584555" y="2886791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11-09-2026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049477"/>
              </p:ext>
            </p:extLst>
          </p:nvPr>
        </p:nvGraphicFramePr>
        <p:xfrm>
          <a:off x="8193271" y="4898509"/>
          <a:ext cx="370205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  <a:endParaRPr lang="it-IT" sz="1400" dirty="0"/>
                    </a:p>
                    <a:p>
                      <a:r>
                        <a:rPr lang="it-IT" sz="1400" b="1" dirty="0"/>
                        <a:t>B. Chetna – 2420030098</a:t>
                      </a:r>
                    </a:p>
                    <a:p>
                      <a:r>
                        <a:rPr lang="it-IT" sz="1400" b="1" dirty="0"/>
                        <a:t>J. Nandini – 2420030262</a:t>
                      </a:r>
                    </a:p>
                    <a:p>
                      <a:r>
                        <a:rPr lang="it-IT" sz="1400" b="1" dirty="0"/>
                        <a:t>S. Sai Saranya – 2420030266</a:t>
                      </a:r>
                    </a:p>
                    <a:p>
                      <a:pPr marL="0" algn="l" defTabSz="914400" rtl="0" eaLnBrk="1" latinLnBrk="0" hangingPunct="1"/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210150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</a:t>
                      </a:r>
                      <a:r>
                        <a:rPr lang="en-IN" sz="1400" dirty="0"/>
                        <a:t>  N. Sunanda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DS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60516" y="1510664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955081" y="1419086"/>
            <a:ext cx="961888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3200" dirty="0"/>
              <a:t>Government Grievance &amp; Public Sentiment Analysis System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22784" y="348401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DS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0C7B34-5E53-467E-AC45-ADFF42851905}"/>
              </a:ext>
            </a:extLst>
          </p:cNvPr>
          <p:cNvSpPr txBox="1"/>
          <p:nvPr/>
        </p:nvSpPr>
        <p:spPr>
          <a:xfrm>
            <a:off x="852457" y="1128563"/>
            <a:ext cx="9235440" cy="64008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2100" b="1" dirty="0"/>
              <a:t>Government grievance data contains valuable information about public issues, but raw complaint text is difficult to analyze directly.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034E4F-E27E-424B-8AC9-B621FD023A58}"/>
              </a:ext>
            </a:extLst>
          </p:cNvPr>
          <p:cNvSpPr/>
          <p:nvPr/>
        </p:nvSpPr>
        <p:spPr>
          <a:xfrm>
            <a:off x="1372072" y="2187020"/>
            <a:ext cx="8503684" cy="3426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  <a:defRPr sz="1900"/>
            </a:pPr>
            <a:r>
              <a:rPr lang="en-US" dirty="0"/>
              <a:t>Citizen complaints may contain missing values, duplicate records and unnecessary information.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  <a:defRPr sz="1900"/>
            </a:pPr>
            <a:r>
              <a:rPr lang="en-US" dirty="0"/>
              <a:t>Complaint text is unstructured, making it difficult to group complaints into major public-service categories.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  <a:defRPr sz="1900"/>
            </a:pPr>
            <a:r>
              <a:rPr lang="en-US" dirty="0"/>
              <a:t>It is difficult to quickly determine whether citizen feedback is positive, negative or neutral.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  <a:defRPr sz="1900"/>
            </a:pPr>
            <a:r>
              <a:rPr lang="en-US" dirty="0"/>
              <a:t>Complaint volumes and sentiment can change over time, so trend analysis is needed.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  <a:defRPr sz="1900"/>
            </a:pPr>
            <a:r>
              <a:rPr lang="en-US" dirty="0"/>
              <a:t>A simple, interactive dashboard is needed to convert raw grievance data into understandable insights.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D86E799-99F0-485D-8FD7-AB8614D07199}"/>
              </a:ext>
            </a:extLst>
          </p:cNvPr>
          <p:cNvSpPr/>
          <p:nvPr/>
        </p:nvSpPr>
        <p:spPr>
          <a:xfrm>
            <a:off x="245097" y="1115500"/>
            <a:ext cx="100042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 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EE5352D-4852-4FA1-8728-20F2CFD9B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670" y="1484832"/>
            <a:ext cx="917318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dirty="0">
                <a:latin typeface="Arial" panose="020B0604020202020204" pitchFamily="34" charset="0"/>
              </a:rPr>
              <a:t>Collect, clean and preprocess</a:t>
            </a:r>
            <a:r>
              <a:rPr lang="en-US" altLang="en-US" dirty="0">
                <a:latin typeface="Arial" panose="020B0604020202020204" pitchFamily="34" charset="0"/>
              </a:rPr>
              <a:t> government grievance data by handling missing values, duplicate records and unnecessary information.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NLP and Machine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process citizen complaints and classify them into categories such as Roads, Water Supply, Electricity, Healthcare, Education and Transportation.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Sentiment and Trend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identify Positive, Negative and Neutral feedback and understand complaint patterns over time.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an interactive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visualize complaint categories, sentiment distribution, trends and key insights. 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8189845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Pang, Lee &amp; </a:t>
                      </a:r>
                      <a:r>
                        <a:rPr lang="en-IN" sz="1400" dirty="0" err="1"/>
                        <a:t>Vaithyanathan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Thumbs up? Sentiment Classification using Machine Learning Techniques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Naive Bayes, Maximum Entropy, SVM</a:t>
                      </a:r>
                      <a:endParaRPr lang="en-IN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Machine learning can effectively classify text into sentiment categories.</a:t>
                      </a:r>
                      <a:endParaRPr lang="en-IN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Mainly focuses on movie reviews; government grievance-specific analysis can be explored.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Medhat, Hassan &amp; </a:t>
                      </a:r>
                      <a:r>
                        <a:rPr lang="en-IN" sz="1400" dirty="0" err="1"/>
                        <a:t>Korashy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Sentiment Analysis Algorithms and Applications: A Survey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Lexicon-based and Machine Learning approaches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Provides an overview of different sentiment analysis techniques and applications.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Sentiment analysis can be affected by domain and language complexity.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Devlin et al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BERT: Pre-training of Deep Bidirectional Transformers for Language Understanding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Transformer-based NLP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Contextual language models provide strong performance in text understanding.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Requires higher computational resources compared with basic ML approaches.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A68217-91C7-4EE1-A66A-7F6472F6AEF9}"/>
              </a:ext>
            </a:extLst>
          </p:cNvPr>
          <p:cNvSpPr/>
          <p:nvPr/>
        </p:nvSpPr>
        <p:spPr>
          <a:xfrm>
            <a:off x="509046" y="1385738"/>
            <a:ext cx="1024693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Existing sentiment analysis systems mainly focus on identifying the </a:t>
            </a:r>
            <a:r>
              <a:rPr lang="en-US" b="1" dirty="0"/>
              <a:t>sentiment of text</a:t>
            </a:r>
            <a:r>
              <a:rPr lang="en-US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Existing grievance systems may focus on </a:t>
            </a:r>
            <a:r>
              <a:rPr lang="en-US" b="1" dirty="0"/>
              <a:t>collecting and managing complaints</a:t>
            </a:r>
            <a:r>
              <a:rPr lang="en-US" dirty="0"/>
              <a:t> without deeper sentiment analysis.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Raw government grievance data requires </a:t>
            </a:r>
            <a:r>
              <a:rPr lang="en-US" b="1" dirty="0"/>
              <a:t>proper cleaning and preprocessing</a:t>
            </a:r>
            <a:r>
              <a:rPr lang="en-US" dirty="0"/>
              <a:t> before analysis.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There is a need to combine </a:t>
            </a:r>
            <a:r>
              <a:rPr lang="en-US" b="1" dirty="0"/>
              <a:t>complaint classification and sentiment analysis</a:t>
            </a:r>
            <a:r>
              <a:rPr lang="en-US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Complaint frequency and sentiment should also be analyzed according to </a:t>
            </a:r>
            <a:r>
              <a:rPr lang="en-US" b="1" dirty="0"/>
              <a:t>time-based trends</a:t>
            </a:r>
            <a:r>
              <a:rPr lang="en-US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 simple interactive visualization can make these insights easier for users to understand.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Identified Gap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CivicSense</a:t>
            </a:r>
            <a:r>
              <a:rPr lang="en-US" b="1" dirty="0"/>
              <a:t> combines grievance analysis, complaint classification, sentiment analysis, trend analysis and interactive visualization into a single Data Science workflow.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450000" y="15257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2C64714-B1B9-400A-A7CC-D05B93184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947" y="1322485"/>
            <a:ext cx="930598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1. INNOVATION</a:t>
            </a:r>
          </a:p>
          <a:p>
            <a:r>
              <a:rPr lang="en-US" b="1" dirty="0"/>
              <a:t>Integrated Data Science:</a:t>
            </a:r>
            <a:r>
              <a:rPr lang="en-US" dirty="0"/>
              <a:t> Combines data cleaning, NLP, Machine Learning and visualization in one system. </a:t>
            </a:r>
          </a:p>
          <a:p>
            <a:r>
              <a:rPr lang="en-US" b="1" dirty="0"/>
              <a:t>Automated Complaint Analysis:</a:t>
            </a:r>
            <a:r>
              <a:rPr lang="en-US" dirty="0"/>
              <a:t> Automatically classifies citizen complaints into public-service categories and identifies their sentiment. </a:t>
            </a:r>
          </a:p>
          <a:p>
            <a:r>
              <a:rPr lang="en-US" b="1" dirty="0"/>
              <a:t>2. CREATIVITY</a:t>
            </a:r>
          </a:p>
          <a:p>
            <a:r>
              <a:rPr lang="en-US" b="1" dirty="0"/>
              <a:t>Citizen-Centric Analysis:</a:t>
            </a:r>
            <a:r>
              <a:rPr lang="en-US" dirty="0"/>
              <a:t> Focuses specifically on real government grievances such as roads, water, electricity, healthcare, education and transportation. </a:t>
            </a:r>
          </a:p>
          <a:p>
            <a:r>
              <a:rPr lang="en-US" b="1" dirty="0"/>
              <a:t>Interactive Insights:</a:t>
            </a:r>
            <a:r>
              <a:rPr lang="en-US" dirty="0"/>
              <a:t> Uses a </a:t>
            </a:r>
            <a:r>
              <a:rPr lang="en-US" dirty="0" err="1"/>
              <a:t>Streamlit</a:t>
            </a:r>
            <a:r>
              <a:rPr lang="en-US" dirty="0"/>
              <a:t> dashboard with charts, graphs, filters and statistics to make complex grievance data easy to understand. </a:t>
            </a:r>
          </a:p>
          <a:p>
            <a:r>
              <a:rPr lang="en-US" b="1" dirty="0"/>
              <a:t>3. NOVELTY</a:t>
            </a:r>
          </a:p>
          <a:p>
            <a:r>
              <a:rPr lang="en-US" b="1" dirty="0"/>
              <a:t>Unified Data Science Workflow:</a:t>
            </a:r>
            <a:r>
              <a:rPr lang="en-US" dirty="0"/>
              <a:t> Combines </a:t>
            </a:r>
            <a:r>
              <a:rPr lang="en-US" b="1" dirty="0"/>
              <a:t>grievance analysis + complaint classification + sentiment analysis + trend analysis + visualization</a:t>
            </a:r>
            <a:r>
              <a:rPr lang="en-US" dirty="0"/>
              <a:t> in a single system. </a:t>
            </a:r>
          </a:p>
          <a:p>
            <a:r>
              <a:rPr lang="en-US" b="1" dirty="0"/>
              <a:t>Time-Based Insights:</a:t>
            </a:r>
            <a:r>
              <a:rPr lang="en-US" dirty="0"/>
              <a:t> Goes beyond individual complaints by analyzing how complaint frequency and sentiment change over time.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4FD551-B84B-4290-903B-78975EE3B4EE}"/>
              </a:ext>
            </a:extLst>
          </p:cNvPr>
          <p:cNvSpPr txBox="1"/>
          <p:nvPr/>
        </p:nvSpPr>
        <p:spPr>
          <a:xfrm>
            <a:off x="822960" y="1143000"/>
            <a:ext cx="10149840" cy="5029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600" b="1" dirty="0"/>
              <a:t>Feasibility: Uses Python-based, widely available data-science libraries and publicly available grievance/sentiment datasets.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6A94DB8-73D4-405B-8DC5-EF054234E3DF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874519"/>
          <a:ext cx="103327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Week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Week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Week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Week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Week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Data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Cleaning &amp; NLP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Classification &amp; Sentiment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Trend Analysis &amp;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Testing, Insights &amp; Finalization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4E736D3-F6EA-423B-93DA-01482FA5616B}"/>
              </a:ext>
            </a:extLst>
          </p:cNvPr>
          <p:cNvSpPr/>
          <p:nvPr/>
        </p:nvSpPr>
        <p:spPr>
          <a:xfrm>
            <a:off x="359923" y="5253335"/>
            <a:ext cx="114424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Overall Project Flow: Data Collection → Data Cleaning → Text </a:t>
            </a:r>
            <a:r>
              <a:rPr lang="en-IN" b="1" dirty="0" err="1"/>
              <a:t>Preprocessing</a:t>
            </a:r>
            <a:r>
              <a:rPr lang="en-IN" b="1" dirty="0"/>
              <a:t> → Complaint Classification → Sentiment Analysis → Trend Analysis → Dashboard → Insights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723</Words>
  <Application>Microsoft Office PowerPoint</Application>
  <PresentationFormat>Widescreen</PresentationFormat>
  <Paragraphs>117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Cambria</vt:lpstr>
      <vt:lpstr>Poppins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srikanth ch</dc:creator>
  <cp:lastModifiedBy>sai saranya suryadevara</cp:lastModifiedBy>
  <cp:revision>39</cp:revision>
  <dcterms:created xsi:type="dcterms:W3CDTF">2026-08-08T06:33:56Z</dcterms:created>
  <dcterms:modified xsi:type="dcterms:W3CDTF">2026-09-11T03:47:00Z</dcterms:modified>
</cp:coreProperties>
</file>