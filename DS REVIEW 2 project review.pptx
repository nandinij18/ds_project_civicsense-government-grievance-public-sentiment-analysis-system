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hyperlink" Target="https://svgsilh.com/03a9f4/image/98809.html" TargetMode="Externa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049477"/>
              </p:ext>
            </p:extLst>
          </p:nvPr>
        </p:nvGraphicFramePr>
        <p:xfrm>
          <a:off x="8193271" y="4898509"/>
          <a:ext cx="370205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  <a:endParaRPr lang="it-IT" sz="1400" dirty="0"/>
                    </a:p>
                    <a:p>
                      <a:r>
                        <a:rPr lang="it-IT" sz="1400" b="1" dirty="0"/>
                        <a:t>B. Chetna – 2420030098</a:t>
                      </a:r>
                    </a:p>
                    <a:p>
                      <a:r>
                        <a:rPr lang="it-IT" sz="1400" b="1" dirty="0"/>
                        <a:t>J. Nandini – 2420030262</a:t>
                      </a:r>
                    </a:p>
                    <a:p>
                      <a:r>
                        <a:rPr lang="it-IT" sz="1400" b="1" dirty="0"/>
                        <a:t>S. Sai Saranya – 2420030266</a:t>
                      </a:r>
                    </a:p>
                    <a:p>
                      <a:pPr marL="0" algn="l" defTabSz="914400" rtl="0" eaLnBrk="1" latinLnBrk="0" hangingPunct="1"/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309992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</a:t>
                      </a:r>
                      <a:r>
                        <a:rPr lang="en-IN" sz="1400" dirty="0"/>
                        <a:t>  N. </a:t>
                      </a:r>
                      <a:r>
                        <a:rPr lang="en-IN" sz="1400" dirty="0" err="1"/>
                        <a:t>Sunandha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DS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200" dirty="0"/>
              <a:t>Government Grievance &amp; Public Sentiment Analysis System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DS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0C7B34-5E53-467E-AC45-ADFF42851905}"/>
              </a:ext>
            </a:extLst>
          </p:cNvPr>
          <p:cNvSpPr txBox="1"/>
          <p:nvPr/>
        </p:nvSpPr>
        <p:spPr>
          <a:xfrm>
            <a:off x="1372071" y="1294772"/>
            <a:ext cx="9235440" cy="6400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2100" b="1"/>
              <a:t>Government grievance data contains valuable information about public issues, but raw complaint text is difficult to analyze directly.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034E4F-E27E-424B-8AC9-B621FD023A58}"/>
              </a:ext>
            </a:extLst>
          </p:cNvPr>
          <p:cNvSpPr/>
          <p:nvPr/>
        </p:nvSpPr>
        <p:spPr>
          <a:xfrm>
            <a:off x="1372072" y="2187020"/>
            <a:ext cx="8503684" cy="313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rPr lang="en-US" dirty="0"/>
              <a:t>Citizen complaints may contain missing values, duplicate records and unnecessary information.</a:t>
            </a:r>
          </a:p>
          <a:p>
            <a:pPr>
              <a:spcAft>
                <a:spcPts val="800"/>
              </a:spcAft>
              <a:defRPr sz="1900"/>
            </a:pPr>
            <a:r>
              <a:rPr lang="en-US" dirty="0"/>
              <a:t>Complaint text is unstructured, making it difficult to group complaints into major public-service categories.</a:t>
            </a:r>
          </a:p>
          <a:p>
            <a:pPr>
              <a:spcAft>
                <a:spcPts val="800"/>
              </a:spcAft>
              <a:defRPr sz="1900"/>
            </a:pPr>
            <a:r>
              <a:rPr lang="en-US" dirty="0"/>
              <a:t>It is difficult to quickly determine whether citizen feedback is positive, negative or neutral.</a:t>
            </a:r>
          </a:p>
          <a:p>
            <a:pPr>
              <a:spcAft>
                <a:spcPts val="800"/>
              </a:spcAft>
              <a:defRPr sz="1900"/>
            </a:pPr>
            <a:r>
              <a:rPr lang="en-US" dirty="0"/>
              <a:t>Complaint volumes and sentiment can change over time, so trend analysis is needed.</a:t>
            </a:r>
          </a:p>
          <a:p>
            <a:pPr>
              <a:spcAft>
                <a:spcPts val="800"/>
              </a:spcAft>
              <a:defRPr sz="1900"/>
            </a:pPr>
            <a:r>
              <a:rPr lang="en-US" dirty="0"/>
              <a:t>A simple, interactive dashboard is needed to convert raw grievance data into understandable insights.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86E799-99F0-485D-8FD7-AB8614D07199}"/>
              </a:ext>
            </a:extLst>
          </p:cNvPr>
          <p:cNvSpPr/>
          <p:nvPr/>
        </p:nvSpPr>
        <p:spPr>
          <a:xfrm>
            <a:off x="245097" y="1115500"/>
            <a:ext cx="1000428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 Collect</a:t>
            </a:r>
            <a:r>
              <a:rPr lang="en-US" altLang="en-US" dirty="0">
                <a:latin typeface="Arial" panose="020B0604020202020204" pitchFamily="34" charset="0"/>
              </a:rPr>
              <a:t> government grievance data from publicly available sources.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Clean and preprocess</a:t>
            </a:r>
            <a:r>
              <a:rPr lang="en-US" altLang="en-US" dirty="0">
                <a:latin typeface="Arial" panose="020B0604020202020204" pitchFamily="34" charset="0"/>
              </a:rPr>
              <a:t> the data by handling missing values, duplicate records and unnecessary information.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Apply </a:t>
            </a:r>
            <a:r>
              <a:rPr lang="en-US" altLang="en-US" b="1" dirty="0">
                <a:latin typeface="Arial" panose="020B0604020202020204" pitchFamily="34" charset="0"/>
              </a:rPr>
              <a:t>Natural Language Processing (NLP)</a:t>
            </a:r>
            <a:r>
              <a:rPr lang="en-US" altLang="en-US" dirty="0">
                <a:latin typeface="Arial" panose="020B0604020202020204" pitchFamily="34" charset="0"/>
              </a:rPr>
              <a:t> to process citizen complaint text.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Classify complaints</a:t>
            </a:r>
            <a:r>
              <a:rPr lang="en-US" altLang="en-US" dirty="0">
                <a:latin typeface="Arial" panose="020B0604020202020204" pitchFamily="34" charset="0"/>
              </a:rPr>
              <a:t> into categories such as: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Roads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Water Supply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Electricity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Healthcare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Education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Transportation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Other Public Services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Perform </a:t>
            </a:r>
            <a:r>
              <a:rPr lang="en-US" altLang="en-US" b="1" dirty="0">
                <a:latin typeface="Arial" panose="020B0604020202020204" pitchFamily="34" charset="0"/>
              </a:rPr>
              <a:t>Sentiment Analysis</a:t>
            </a:r>
            <a:r>
              <a:rPr lang="en-US" altLang="en-US" dirty="0">
                <a:latin typeface="Arial" panose="020B0604020202020204" pitchFamily="34" charset="0"/>
              </a:rPr>
              <a:t> to identify: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Positive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Negative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Neutral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Develop and evaluate a </a:t>
            </a:r>
            <a:r>
              <a:rPr lang="en-US" altLang="en-US" b="1" dirty="0">
                <a:latin typeface="Arial" panose="020B0604020202020204" pitchFamily="34" charset="0"/>
              </a:rPr>
              <a:t>basic Machine Learning classification model</a:t>
            </a:r>
            <a:r>
              <a:rPr lang="en-US" altLang="en-US" dirty="0">
                <a:latin typeface="Arial" panose="020B0604020202020204" pitchFamily="34" charset="0"/>
              </a:rPr>
              <a:t>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Perform </a:t>
            </a:r>
            <a:r>
              <a:rPr lang="en-US" altLang="en-US" b="1" dirty="0">
                <a:latin typeface="Arial" panose="020B0604020202020204" pitchFamily="34" charset="0"/>
              </a:rPr>
              <a:t>Trend Analysis</a:t>
            </a:r>
            <a:r>
              <a:rPr lang="en-US" altLang="en-US" dirty="0">
                <a:latin typeface="Arial" panose="020B0604020202020204" pitchFamily="34" charset="0"/>
              </a:rPr>
              <a:t> to understand complaint patterns over time.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Develop an </a:t>
            </a:r>
            <a:r>
              <a:rPr lang="en-US" altLang="en-US" b="1" dirty="0">
                <a:latin typeface="Arial" panose="020B0604020202020204" pitchFamily="34" charset="0"/>
              </a:rPr>
              <a:t>interactive </a:t>
            </a:r>
            <a:r>
              <a:rPr lang="en-US" altLang="en-US" b="1" dirty="0" err="1">
                <a:latin typeface="Arial" panose="020B0604020202020204" pitchFamily="34" charset="0"/>
              </a:rPr>
              <a:t>Streamlit</a:t>
            </a:r>
            <a:r>
              <a:rPr lang="en-US" altLang="en-US" b="1" dirty="0">
                <a:latin typeface="Arial" panose="020B0604020202020204" pitchFamily="34" charset="0"/>
              </a:rPr>
              <a:t> dashboard</a:t>
            </a:r>
            <a:r>
              <a:rPr lang="en-US" altLang="en-US" dirty="0">
                <a:latin typeface="Arial" panose="020B0604020202020204" pitchFamily="34" charset="0"/>
              </a:rPr>
              <a:t> to visualize the results. 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8189845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Pang, Lee &amp; </a:t>
                      </a:r>
                      <a:r>
                        <a:rPr lang="en-IN" sz="1400" dirty="0" err="1"/>
                        <a:t>Vaithyanathan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Thumbs up? Sentiment Classification using Machine Learning Techniques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Naive Bayes, Maximum Entropy, SVM</a:t>
                      </a:r>
                      <a:endParaRPr lang="en-IN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Machine learning can effectively classify text into sentiment categories.</a:t>
                      </a:r>
                      <a:endParaRPr lang="en-IN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Mainly focuses on movie reviews; government grievance-specific analysis can be explored.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Medhat, Hassan &amp; </a:t>
                      </a:r>
                      <a:r>
                        <a:rPr lang="en-IN" sz="1400" dirty="0" err="1"/>
                        <a:t>Korashy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Sentiment Analysis Algorithms and Applications: A Survey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Lexicon-based and Machine Learning approaches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Provides an overview of different sentiment analysis techniques and applications.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Sentiment analysis can be affected by domain and language complexity.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Devlin et al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BERT: Pre-training of Deep Bidirectional Transformers for Language Understanding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Transformer-based NLP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Contextual language models provide strong performance in text understanding.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Requires higher computational resources compared with basic ML approaches.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A68217-91C7-4EE1-A66A-7F6472F6AEF9}"/>
              </a:ext>
            </a:extLst>
          </p:cNvPr>
          <p:cNvSpPr/>
          <p:nvPr/>
        </p:nvSpPr>
        <p:spPr>
          <a:xfrm>
            <a:off x="509046" y="1385738"/>
            <a:ext cx="1024693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Existing sentiment analysis systems mainly focus on identifying the </a:t>
            </a:r>
            <a:r>
              <a:rPr lang="en-US" b="1" dirty="0"/>
              <a:t>sentiment of text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Existing grievance systems may focus on </a:t>
            </a:r>
            <a:r>
              <a:rPr lang="en-US" b="1" dirty="0"/>
              <a:t>collecting and managing complaints</a:t>
            </a:r>
            <a:r>
              <a:rPr lang="en-US" dirty="0"/>
              <a:t> without deeper sentiment analysis.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Raw government grievance data requires </a:t>
            </a:r>
            <a:r>
              <a:rPr lang="en-US" b="1" dirty="0"/>
              <a:t>proper cleaning and preprocessing</a:t>
            </a:r>
            <a:r>
              <a:rPr lang="en-US" dirty="0"/>
              <a:t> before analysis.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is a need to combine </a:t>
            </a:r>
            <a:r>
              <a:rPr lang="en-US" b="1" dirty="0"/>
              <a:t>complaint classification and sentiment analysis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Complaint frequency and sentiment should also be analyzed according to </a:t>
            </a:r>
            <a:r>
              <a:rPr lang="en-US" b="1" dirty="0"/>
              <a:t>time-based trends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simple interactive visualization can make these insights easier for users to understand. </a:t>
            </a:r>
          </a:p>
          <a:p>
            <a:r>
              <a:rPr lang="en-US" b="1" dirty="0"/>
              <a:t>Identified Gap</a:t>
            </a:r>
          </a:p>
          <a:p>
            <a:r>
              <a:rPr lang="en-US" b="1" dirty="0" err="1"/>
              <a:t>CivicSense</a:t>
            </a:r>
            <a:r>
              <a:rPr lang="en-US" b="1" dirty="0"/>
              <a:t> combines grievance analysis, complaint classification, sentiment analysis, trend analysis and interactive visualization into a single Data Science workflow.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450000" y="15257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B6184E3-3B14-48F7-89A1-31A76EE2CA5F}"/>
              </a:ext>
            </a:extLst>
          </p:cNvPr>
          <p:cNvSpPr/>
          <p:nvPr/>
        </p:nvSpPr>
        <p:spPr>
          <a:xfrm>
            <a:off x="549897" y="798902"/>
            <a:ext cx="1084710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Integrated Data Science Approach</a:t>
            </a:r>
            <a:endParaRPr lang="en-US" dirty="0"/>
          </a:p>
          <a:p>
            <a:r>
              <a:rPr lang="en-US" dirty="0"/>
              <a:t>Combines:</a:t>
            </a:r>
            <a:br>
              <a:rPr lang="en-US" dirty="0"/>
            </a:br>
            <a:r>
              <a:rPr lang="en-US" b="1" dirty="0"/>
              <a:t>Data Cleaning + NLP + Machine Learning + Visualization</a:t>
            </a:r>
            <a:endParaRPr lang="en-US" dirty="0"/>
          </a:p>
          <a:p>
            <a:r>
              <a:rPr lang="en-US" b="1" dirty="0"/>
              <a:t>2. Government Grievance Focus</a:t>
            </a:r>
            <a:endParaRPr lang="en-US" dirty="0"/>
          </a:p>
          <a:p>
            <a:r>
              <a:rPr lang="en-US" dirty="0"/>
              <a:t>Instead of analyzing general text, the system focuses on </a:t>
            </a:r>
            <a:r>
              <a:rPr lang="en-US" b="1" dirty="0"/>
              <a:t>citizen complaints and public-service issues</a:t>
            </a:r>
            <a:r>
              <a:rPr lang="en-US" dirty="0"/>
              <a:t>.</a:t>
            </a:r>
          </a:p>
          <a:p>
            <a:r>
              <a:rPr lang="en-US" b="1" dirty="0"/>
              <a:t>3. Complaint Classification</a:t>
            </a:r>
            <a:endParaRPr lang="en-US" dirty="0"/>
          </a:p>
          <a:p>
            <a:r>
              <a:rPr lang="en-US" dirty="0"/>
              <a:t>Complaints are categorized into areas such as </a:t>
            </a:r>
            <a:r>
              <a:rPr lang="en-US" b="1" dirty="0"/>
              <a:t>roads, water, electricity, healthcare, education and transportation</a:t>
            </a:r>
            <a:r>
              <a:rPr lang="en-US" dirty="0"/>
              <a:t>.</a:t>
            </a:r>
          </a:p>
          <a:p>
            <a:r>
              <a:rPr lang="en-US" b="1" dirty="0"/>
              <a:t>4. Sentiment Analysis</a:t>
            </a:r>
            <a:endParaRPr lang="en-US" dirty="0"/>
          </a:p>
          <a:p>
            <a:r>
              <a:rPr lang="en-US" dirty="0"/>
              <a:t>Identifies whether citizen feedback is:</a:t>
            </a:r>
          </a:p>
          <a:p>
            <a:r>
              <a:rPr lang="en-US" b="1" dirty="0"/>
              <a:t>Positive | Negative | Neutral</a:t>
            </a:r>
            <a:endParaRPr lang="en-US" dirty="0"/>
          </a:p>
          <a:p>
            <a:r>
              <a:rPr lang="en-US" b="1" dirty="0"/>
              <a:t>5. Trend Analysis</a:t>
            </a:r>
            <a:endParaRPr lang="en-US" dirty="0"/>
          </a:p>
          <a:p>
            <a:r>
              <a:rPr lang="en-US" dirty="0"/>
              <a:t>Analyzes how complaint numbers and sentiment patterns </a:t>
            </a:r>
            <a:r>
              <a:rPr lang="en-US" b="1" dirty="0"/>
              <a:t>change over time</a:t>
            </a:r>
            <a:r>
              <a:rPr lang="en-US" dirty="0"/>
              <a:t>.</a:t>
            </a:r>
          </a:p>
          <a:p>
            <a:r>
              <a:rPr lang="en-US" b="1" dirty="0"/>
              <a:t>6. Interactive Dashboard</a:t>
            </a:r>
            <a:endParaRPr lang="en-US" dirty="0"/>
          </a:p>
          <a:p>
            <a:r>
              <a:rPr lang="en-US" dirty="0" err="1"/>
              <a:t>Streamlit</a:t>
            </a:r>
            <a:r>
              <a:rPr lang="en-US" dirty="0"/>
              <a:t> dashboard presents: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Graphs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Summary statistics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Complaint categories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Sentiment distribution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Frequently reported issues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FD551-B84B-4290-903B-78975EE3B4EE}"/>
              </a:ext>
            </a:extLst>
          </p:cNvPr>
          <p:cNvSpPr txBox="1"/>
          <p:nvPr/>
        </p:nvSpPr>
        <p:spPr>
          <a:xfrm>
            <a:off x="822960" y="1143000"/>
            <a:ext cx="10149840" cy="5029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 dirty="0"/>
              <a:t>Feasibility: Uses Python-based, widely available data-science libraries and publicly available grievance/sentiment datasets.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A94DB8-73D4-405B-8DC5-EF054234E3DF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874519"/>
          <a:ext cx="103327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Week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Week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Cleaning &amp; NLP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Classification &amp; Sentiment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Trend Analysis &amp;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Testing, Insights &amp; Finalization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4E736D3-F6EA-423B-93DA-01482FA5616B}"/>
              </a:ext>
            </a:extLst>
          </p:cNvPr>
          <p:cNvSpPr/>
          <p:nvPr/>
        </p:nvSpPr>
        <p:spPr>
          <a:xfrm>
            <a:off x="685799" y="5253335"/>
            <a:ext cx="111165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Overall Project Flow: Data Collection → Data Cleaning → Text </a:t>
            </a:r>
            <a:r>
              <a:rPr lang="en-IN" b="1" dirty="0" err="1"/>
              <a:t>Preprocessing</a:t>
            </a:r>
            <a:r>
              <a:rPr lang="en-IN" b="1" dirty="0"/>
              <a:t> → Complaint Classification → Sentiment Analysis → Trend Analysis → Dashboard → Insights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714</Words>
  <Application>Microsoft Office PowerPoint</Application>
  <PresentationFormat>Widescreen</PresentationFormat>
  <Paragraphs>142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Cambria</vt:lpstr>
      <vt:lpstr>Poppins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sai saranya suryadevara</cp:lastModifiedBy>
  <cp:revision>35</cp:revision>
  <dcterms:created xsi:type="dcterms:W3CDTF">2026-08-08T06:33:56Z</dcterms:created>
  <dcterms:modified xsi:type="dcterms:W3CDTF">2026-09-10T05:35:30Z</dcterms:modified>
</cp:coreProperties>
</file>